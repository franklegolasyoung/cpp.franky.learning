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11503" r:id="rId5"/>
    <p:sldId id="11504" r:id="rId6"/>
    <p:sldId id="11506" r:id="rId7"/>
    <p:sldId id="11524" r:id="rId8"/>
    <p:sldId id="11525" r:id="rId9"/>
    <p:sldId id="11507" r:id="rId10"/>
    <p:sldId id="11512" r:id="rId11"/>
    <p:sldId id="11513" r:id="rId12"/>
    <p:sldId id="11511" r:id="rId13"/>
    <p:sldId id="11515" r:id="rId14"/>
    <p:sldId id="11516" r:id="rId15"/>
    <p:sldId id="11514" r:id="rId16"/>
    <p:sldId id="11517" r:id="rId17"/>
    <p:sldId id="38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5CD9C-1713-40B9-A939-CBDB92B3A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D5602-EF29-4D18-A923-71B0A38C35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D5602-EF29-4D18-A923-71B0A38C35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760EF0-27D5-4E1B-8B98-FFF90C7DB4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D5602-EF29-4D18-A923-71B0A38C35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381740" y="738523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381740" y="6054571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 flipV="1">
            <a:off x="11683014" y="579116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 flipV="1">
            <a:off x="145437" y="5892014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 flipV="1">
            <a:off x="145437" y="579116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 flipV="1">
            <a:off x="11683014" y="5892014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AC717E-93B2-47F9-9C35-7FC41BB9BF90}" type="datetime1">
              <a:rPr lang="zh-CN" altLang="en-US"/>
            </a:fld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5B8FF-A159-4928-B333-16EC65337BF6}" type="slidenum">
              <a:rPr lang="zh-CN" altLang="en-US"/>
            </a:fld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4" t="8395" r="57831" b="8912"/>
          <a:stretch>
            <a:fillRect/>
          </a:stretch>
        </p:blipFill>
        <p:spPr>
          <a:xfrm rot="16200000">
            <a:off x="5094013" y="-235505"/>
            <a:ext cx="2004831" cy="1218217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485775" y="409575"/>
            <a:ext cx="11268075" cy="6086475"/>
          </a:xfrm>
          <a:prstGeom prst="rect">
            <a:avLst/>
          </a:prstGeom>
          <a:noFill/>
          <a:ln w="107950" cmpd="thickThin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2669"/>
          <p:cNvSpPr txBox="1"/>
          <p:nvPr userDrawn="1"/>
        </p:nvSpPr>
        <p:spPr>
          <a:xfrm>
            <a:off x="822787" y="604625"/>
            <a:ext cx="244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</a:rPr>
              <a:t>添加标题内容</a:t>
            </a:r>
            <a:endParaRPr lang="en-US" sz="2400" b="0" dirty="0">
              <a:solidFill>
                <a:schemeClr val="tx1">
                  <a:lumMod val="75000"/>
                  <a:lumOff val="25000"/>
                </a:schemeClr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8345E-070F-4826-B52A-3B6C3CA718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15707-B9E6-4B81-92CC-F676AC88AC03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81740" y="1114443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81740" y="5516091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40080" y="1615440"/>
            <a:ext cx="1605280" cy="160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87600" y="1615440"/>
            <a:ext cx="1605280" cy="1605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87600" y="3352800"/>
            <a:ext cx="1605280" cy="1605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9760" y="3352800"/>
            <a:ext cx="1605280" cy="160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598901" y="2274406"/>
            <a:ext cx="6953019" cy="958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4" tIns="45702" rIns="91404" bIns="45702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rPr>
              <a:t>动态规划解决石子合并问题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4688369" y="1770707"/>
            <a:ext cx="5723055" cy="503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4" tIns="45702" rIns="91404" bIns="4570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l"/>
            <a:r>
              <a:rPr lang="en-US" altLang="zh-CN" sz="2400" b="0" dirty="0">
                <a:solidFill>
                  <a:srgbClr val="737373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rPr>
              <a:t>Dynamic Planning in Stone Merging</a:t>
            </a:r>
            <a:endParaRPr lang="en-US" altLang="zh-CN" sz="2400" b="0" dirty="0">
              <a:solidFill>
                <a:srgbClr val="737373"/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688205" y="4231640"/>
            <a:ext cx="2292350" cy="380987"/>
            <a:chOff x="5891775" y="1276400"/>
            <a:chExt cx="2065395" cy="244660"/>
          </a:xfrm>
        </p:grpSpPr>
        <p:sp>
          <p:nvSpPr>
            <p:cNvPr id="16" name="圆角矩形 6"/>
            <p:cNvSpPr/>
            <p:nvPr/>
          </p:nvSpPr>
          <p:spPr>
            <a:xfrm>
              <a:off x="5891776" y="1276400"/>
              <a:ext cx="2065394" cy="244660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txBody>
            <a:bodyPr lIns="91424" tIns="45713" rIns="91424" bIns="45713" rtlCol="0" anchor="ctr"/>
            <a:lstStyle/>
            <a:p>
              <a:pPr algn="ctr" defTabSz="1218565">
                <a:defRPr/>
              </a:pPr>
              <a:endParaRPr lang="zh-CN" altLang="en-US" sz="2400" kern="0">
                <a:solidFill>
                  <a:sysClr val="window" lastClr="FFFFFF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endParaRPr>
            </a:p>
          </p:txBody>
        </p:sp>
        <p:sp>
          <p:nvSpPr>
            <p:cNvPr id="17" name="圆角矩形 7"/>
            <p:cNvSpPr/>
            <p:nvPr/>
          </p:nvSpPr>
          <p:spPr>
            <a:xfrm>
              <a:off x="5891775" y="1276400"/>
              <a:ext cx="955487" cy="24466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lumMod val="75000"/>
                  </a:schemeClr>
                </a:gs>
              </a:gsLst>
              <a:lin ang="5400000" scaled="1"/>
            </a:gradFill>
            <a:ln w="12700" cap="flat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241300" dist="63500" dir="5400000" algn="t" rotWithShape="0">
                <a:sysClr val="windowText" lastClr="000000">
                  <a:lumMod val="85000"/>
                  <a:lumOff val="15000"/>
                  <a:alpha val="43000"/>
                </a:sysClr>
              </a:outerShdw>
            </a:effectLst>
          </p:spPr>
          <p:txBody>
            <a:bodyPr vert="horz" wrap="square" lIns="91424" tIns="45713" rIns="91424" bIns="45713" numCol="1" anchor="t" anchorCtr="0" compatLnSpc="1"/>
            <a:lstStyle/>
            <a:p>
              <a:pPr defTabSz="1218565"/>
              <a:endParaRPr lang="zh-CN" altLang="en-US" sz="2400" kern="0">
                <a:solidFill>
                  <a:prstClr val="black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endParaRPr>
            </a:p>
          </p:txBody>
        </p:sp>
        <p:sp>
          <p:nvSpPr>
            <p:cNvPr id="18" name="TextBox 54"/>
            <p:cNvSpPr txBox="1"/>
            <p:nvPr/>
          </p:nvSpPr>
          <p:spPr>
            <a:xfrm>
              <a:off x="6000573" y="1290277"/>
              <a:ext cx="738336" cy="215716"/>
            </a:xfrm>
            <a:prstGeom prst="rect">
              <a:avLst/>
            </a:prstGeom>
            <a:noFill/>
          </p:spPr>
          <p:txBody>
            <a:bodyPr wrap="square" lIns="91412" tIns="45706" rIns="91412" bIns="45706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sym typeface="Noto Sans S Chinese Light" panose="020B0300000000000000" pitchFamily="34" charset="-122"/>
                </a:rPr>
                <a:t>汇报者：</a:t>
              </a:r>
              <a:endParaRPr lang="en-US" altLang="zh-CN" sz="1600" dirty="0">
                <a:solidFill>
                  <a:schemeClr val="bg1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endParaRPr>
            </a:p>
          </p:txBody>
        </p:sp>
        <p:sp>
          <p:nvSpPr>
            <p:cNvPr id="19" name="TextBox 55"/>
            <p:cNvSpPr txBox="1"/>
            <p:nvPr/>
          </p:nvSpPr>
          <p:spPr>
            <a:xfrm>
              <a:off x="7021740" y="1289870"/>
              <a:ext cx="744760" cy="215716"/>
            </a:xfrm>
            <a:prstGeom prst="rect">
              <a:avLst/>
            </a:prstGeom>
            <a:noFill/>
          </p:spPr>
          <p:txBody>
            <a:bodyPr wrap="square" lIns="91412" tIns="45706" rIns="91412" bIns="45706" rtlCol="0">
              <a:spAutoFit/>
            </a:bodyPr>
            <a:lstStyle/>
            <a:p>
              <a:pPr algn="l"/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sym typeface="Noto Sans S Chinese Light" panose="020B0300000000000000" pitchFamily="34" charset="-122"/>
                </a:rPr>
                <a:t>杨卓宸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 flipV="1">
            <a:off x="11683014" y="955036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 flipV="1">
            <a:off x="0" y="5353534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6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200" fill="hold"/>
                                        <p:tgtEl>
                                          <p:spTgt spid="15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00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200" fill="hold"/>
                                        <p:tgtEl>
                                          <p:spTgt spid="1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9027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问题描述：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179830" y="1917065"/>
            <a:ext cx="943991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有N（N&lt;=20）堆石子，现要将石子合并成一堆。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规定：每次只能移动任意的2堆石子合并，新合成的这堆石子的数量为合并得分。求将这N堆石子合并成一堆的最小总得分。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题目延伸：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这N堆石子有序环绕排列成一封闭圆环，每次只能移动相邻两堆石子。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9027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可用算法：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179830" y="1736090"/>
            <a:ext cx="943991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1.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贪心算法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广泛上讲，石子问题就是通过合并石子堆来取得最小得分。显然这种问题和贪心算法不谋而合，可以从局部最优入手进而推得全局最优。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2" name="TextBox 148"/>
          <p:cNvSpPr txBox="1">
            <a:spLocks noChangeArrowheads="1"/>
          </p:cNvSpPr>
          <p:nvPr/>
        </p:nvSpPr>
        <p:spPr bwMode="auto">
          <a:xfrm>
            <a:off x="1179830" y="3626485"/>
            <a:ext cx="943991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2.动态规划</a:t>
            </a:r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首先这个问题是重复石子合并成堆的过程，可以将合并问题分解为两两合并的子问题，并且这个子问题具有重复性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其次，这个问题的最终最优解，一定包含着它子问题的最优解，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符合动态规划问题的特征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。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4667250" y="1832610"/>
            <a:ext cx="246570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6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但是！</a:t>
            </a:r>
            <a:endParaRPr lang="zh-CN" sz="6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2176780" y="3638550"/>
            <a:ext cx="783780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贪心算法对于题目的延伸是不可行的。</a:t>
            </a:r>
            <a:endParaRPr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1684020" y="2608580"/>
          <a:ext cx="882396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"/>
                <a:gridCol w="1102995"/>
                <a:gridCol w="1102995"/>
                <a:gridCol w="1102995"/>
                <a:gridCol w="1102995"/>
                <a:gridCol w="1102995"/>
                <a:gridCol w="1102995"/>
                <a:gridCol w="110299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此次得分</a:t>
                      </a:r>
                      <a:endParaRPr lang="zh-CN" altLang="en-US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总得分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62</a:t>
                      </a:r>
                      <a:endParaRPr lang="en-US" altLang="zh-CN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148"/>
          <p:cNvSpPr txBox="1">
            <a:spLocks noChangeArrowheads="1"/>
          </p:cNvSpPr>
          <p:nvPr/>
        </p:nvSpPr>
        <p:spPr bwMode="auto">
          <a:xfrm>
            <a:off x="650240" y="1132205"/>
            <a:ext cx="1089088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举例：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堆石子，顺时针方向以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3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的顺序排列成环。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下表是贪心算法的过程：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1684020" y="2608580"/>
          <a:ext cx="882396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"/>
                <a:gridCol w="1102995"/>
                <a:gridCol w="1102995"/>
                <a:gridCol w="1102995"/>
                <a:gridCol w="1102995"/>
                <a:gridCol w="1102995"/>
                <a:gridCol w="1102995"/>
                <a:gridCol w="110299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此次得分</a:t>
                      </a:r>
                      <a:endParaRPr lang="zh-CN" altLang="en-US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合并</a:t>
                      </a: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总得分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61</a:t>
                      </a:r>
                      <a:endParaRPr lang="en-US" altLang="zh-CN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148"/>
          <p:cNvSpPr txBox="1">
            <a:spLocks noChangeArrowheads="1"/>
          </p:cNvSpPr>
          <p:nvPr/>
        </p:nvSpPr>
        <p:spPr bwMode="auto">
          <a:xfrm>
            <a:off x="650240" y="1132205"/>
            <a:ext cx="1089088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举例：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堆石子，顺时针方向以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3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6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5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的顺序排列成环。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下表是正确的合并过程：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175895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可用算法：区域性动态规划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243965" y="982980"/>
            <a:ext cx="970343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贪心算法对于原始题目，不会出错，因为是任意取两堆合并，可以保证这个局部最优解，是任意局部的最优解，一定可以推出全局最优。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之所以可能出错，是因为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题目的延伸是有序的环状排列，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每一次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只能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选择得分最小的相邻两堆合并，但这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是局限性的局部最优解，它不能保证在合并到一定情况下，所得解依然是全局最优。这并不是在全局最优解的限定下，所有子问题的最优解，所以不能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保证余下的合并过程能得出最优解。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那我们可以想到一种理想的假设：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如果N-1次合并的全局最优解包含了每一次合并的子问题的最优解，那么经这样的N-1次合并后的得分总和必然是最优的。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这其实就是动态规划。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7884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算法计算模型：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225550" y="1339215"/>
            <a:ext cx="943991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数据结构：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：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表示石子的堆数。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f[i][j]：把从i到j的石子合并为一堆的最小得分（i&lt;j）。i表示从编号为i的石头开始合并，j表示从i开始数j堆进行合并。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（大小为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）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a[i]：存储输入的石子堆数据列。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s[i]：前缀和，表示前i堆石子总数。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（大小为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）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sum(i,j)：求出a[i]到a[j]的和，也就是前缀和s[j]-s[i-1]。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358900" y="4450715"/>
            <a:ext cx="1440000" cy="14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2117090" y="5890895"/>
            <a:ext cx="4084955" cy="1143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2041525" y="5859145"/>
            <a:ext cx="75565" cy="75565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6259195" y="5875020"/>
            <a:ext cx="4084955" cy="1143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6183630" y="5856605"/>
            <a:ext cx="75565" cy="75565"/>
          </a:xfrm>
          <a:prstGeom prst="ellips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48735" y="5499735"/>
            <a:ext cx="62103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909560" y="5499735"/>
            <a:ext cx="62103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286125" y="5902325"/>
            <a:ext cx="75565" cy="563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714615" y="5886450"/>
            <a:ext cx="75565" cy="5638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11" idx="3"/>
            <a:endCxn id="12" idx="1"/>
          </p:cNvCxnSpPr>
          <p:nvPr/>
        </p:nvCxnSpPr>
        <p:spPr>
          <a:xfrm flipV="1">
            <a:off x="3361690" y="6168390"/>
            <a:ext cx="4352925" cy="15875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227320" y="6127115"/>
            <a:ext cx="621030" cy="36830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p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15" name="下箭头 14"/>
          <p:cNvSpPr/>
          <p:nvPr/>
        </p:nvSpPr>
        <p:spPr>
          <a:xfrm>
            <a:off x="1976120" y="5304155"/>
            <a:ext cx="207010" cy="5410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6102350" y="5304155"/>
            <a:ext cx="207010" cy="5410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238105" y="5318125"/>
            <a:ext cx="207010" cy="54102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 advTm="2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animBg="1"/>
      <p:bldP spid="15" grpId="0" animBg="1"/>
      <p:bldP spid="16" grpId="0" bldLvl="0" animBg="1"/>
      <p:bldP spid="15" grpId="1" animBg="1"/>
      <p:bldP spid="16" grpId="1" bldLvl="0" animBg="1"/>
      <p:bldP spid="16" grpId="2" bldLvl="0" animBg="1"/>
      <p:bldP spid="17" grpId="0" bldLvl="0" animBg="1"/>
      <p:bldP spid="8" grpId="0"/>
      <p:bldP spid="9" grpId="0"/>
      <p:bldP spid="7" grpId="0" bldLvl="0" animBg="1"/>
      <p:bldP spid="16" grpId="3" bldLvl="0" animBg="1"/>
      <p:bldP spid="15" grpId="2" animBg="1"/>
      <p:bldP spid="11" grpId="0" animBg="1"/>
      <p:bldP spid="12" grpId="0" bldLvl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736600" y="798195"/>
            <a:ext cx="107188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1.首先将i至j的石子看作整体，以k为界限将其分为A和B两堆。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当【将i到k合为一堆的最小得分(A堆)】 + 【将k+1到j合为一堆的最小得分(B堆)】 + 【将A堆与B堆合并的得分】 &lt; 【将i到j合为一堆的最小得分】时，更新f[i][j]。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2.求出将A堆与B堆合并的得分。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A堆的石子个数 = a[i]+a[i+1]+……+a[k]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B堆的石子个数 = a[k+1]+a[k+2]+……+a[j]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设s[i]=s[i-1]+a[i]，即前i堆的石子总数。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A堆与B堆合并的得分=a[i]+a[i+1]+……+a[j]=s[j]-s[i-1]=sum(i,j)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可以得到：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f[i][j]=min(f[i][j],f[i][k]+f[k+1][j]+a[i]+a[i+1]+……+a[j])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	  =min(f[i][j],f[i][k]+f[k+1][j]+sum(i,j))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最小值：MIN = min(MIN,f[i][i+n-1])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76454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算法阶段描述：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179830" y="1213485"/>
            <a:ext cx="943991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初始阶段：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f[1][1]……f[n][1]，因为一开始还没有合并，所以这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些值全部设为0。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第二阶段：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两两合并过程如下。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f[1][2]=f[1][1]+f[2][1]+sum(1,2)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……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f[n][2]=f[n][1]+f[1][1]+sum(n,2)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第三阶段：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三三合并可以拆成两两合并，拆分方法有两种，前两个为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一组或后两个为一组。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f[1][3]=f[1][2]+f[3][1]+sum(1,3) /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f[1][3]=f[1][1]+f[2][2]+sum(1,3)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f[2][3]=f[2][2]+f[4][1]+sum(2,3) /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	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f[2][3]=f[2][1]+f[3][2]+sum(2,3)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第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...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阶段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...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2235200" y="2061210"/>
          <a:ext cx="7720965" cy="324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"/>
                <a:gridCol w="1102995"/>
                <a:gridCol w="1102995"/>
                <a:gridCol w="1102995"/>
                <a:gridCol w="1102995"/>
                <a:gridCol w="1102995"/>
                <a:gridCol w="1102995"/>
              </a:tblGrid>
              <a:tr h="9575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i\j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f[1][1]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f[1][2]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f[1][3]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f[1][4]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f[1][n]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f[2][1]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f[2][2]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f[2][3]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f[2][n-1]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f[3][1]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f[3][2]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f[3][n-2]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f[4][1]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f[4][n-3]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f[n][1]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148"/>
          <p:cNvSpPr txBox="1">
            <a:spLocks noChangeArrowheads="1"/>
          </p:cNvSpPr>
          <p:nvPr/>
        </p:nvSpPr>
        <p:spPr bwMode="auto">
          <a:xfrm>
            <a:off x="650240" y="1120775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算法计算模型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7884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石子合并问题算法伪代码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328295" y="1971675"/>
            <a:ext cx="11536045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For len←1 to n-1 do {枚举区间的长度（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2——n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）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}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   For i←1 to 2*n-1 do {枚举区间起点的遍历}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       1.j→i+len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{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枚举区间的终点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}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       2.if(j &lt; 2*n-1)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       then For k←1 to j-1 do {枚举不同的分段方法}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           f[i][j]←min{f[i][j]+f[i][k]+f[k+1][j]+sum(i,j)}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p:transition spd="med" advTm="200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7884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算法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数学模型：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sp>
        <p:nvSpPr>
          <p:cNvPr id="5" name="TextBox 148"/>
          <p:cNvSpPr txBox="1">
            <a:spLocks noChangeArrowheads="1"/>
          </p:cNvSpPr>
          <p:nvPr/>
        </p:nvSpPr>
        <p:spPr bwMode="auto">
          <a:xfrm>
            <a:off x="1375410" y="1706880"/>
            <a:ext cx="943991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转移方程：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前缀和公式：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 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由此计算模型可以看出，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时间复杂函数：T(n)=O(f(n))=2+O(n)+O(2n)+O(2n*(n</a:t>
            </a:r>
            <a:r>
              <a:rPr lang="zh-CN" sz="2400" baseline="30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2</a:t>
            </a:r>
            <a:r>
              <a:rPr 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/2+n/2))+O(n)</a:t>
            </a:r>
            <a:endParaRPr lang="zh-CN" sz="2400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时间复杂度：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T(n)=O(n</a:t>
            </a:r>
            <a:r>
              <a:rPr 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3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)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409020205090404" charset="0"/>
              <a:ea typeface="Noto Sans S Chinese Light" panose="020B0300000000000000" pitchFamily="34" charset="-122"/>
              <a:cs typeface="Courier New" panose="02070409020205090404" charset="0"/>
              <a:sym typeface="Noto Sans S Chinese Light" panose="020B0300000000000000" pitchFamily="34" charset="-122"/>
            </a:endParaRPr>
          </a:p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空间复杂度：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S(n)=O(f(n))=O(4n</a:t>
            </a:r>
            <a:r>
              <a:rPr 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2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)=O(n</a:t>
            </a:r>
            <a:r>
              <a:rPr lang="zh-CN" sz="24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2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409020205090404" charset="0"/>
                <a:ea typeface="Noto Sans S Chinese Light" panose="020B0300000000000000" pitchFamily="34" charset="-122"/>
                <a:cs typeface="Courier New" panose="02070409020205090404" charset="0"/>
                <a:sym typeface="Noto Sans S Chinese Light" panose="020B0300000000000000" pitchFamily="34" charset="-122"/>
              </a:rPr>
              <a:t>)</a:t>
            </a:r>
            <a:endParaRPr 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409020205090404" charset="0"/>
              <a:ea typeface="Noto Sans S Chinese Light" panose="020B0300000000000000" pitchFamily="34" charset="-122"/>
              <a:cs typeface="Courier New" panose="02070409020205090404" charset="0"/>
              <a:sym typeface="Noto Sans S Chinese Light" panose="020B0300000000000000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993327" y="1499172"/>
                <a:ext cx="7522845" cy="7886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][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                                             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𝑚𝑖𝑛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],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𝑓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])+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𝑠𝑢𝑚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][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          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≠</m:t>
                              </m:r>
                              <m:r>
                                <a:rPr lang="en-US" altLang="zh-CN" sz="2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327" y="1499172"/>
                <a:ext cx="7522845" cy="788670"/>
              </a:xfrm>
              <a:prstGeom prst="rect">
                <a:avLst/>
              </a:prstGeom>
              <a:blipFill rotWithShape="1">
                <a:blip r:embed="rId1"/>
                <a:stretch>
                  <a:fillRect l="-8" t="-73" r="8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328607" y="2806637"/>
                <a:ext cx="703580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𝑠𝑢𝑚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]−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]                      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 &lt;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400" i="1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607" y="2806637"/>
                <a:ext cx="7035800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8" t="-124" r="-290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Tm="2000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148"/>
          <p:cNvSpPr txBox="1">
            <a:spLocks noChangeArrowheads="1"/>
          </p:cNvSpPr>
          <p:nvPr/>
        </p:nvSpPr>
        <p:spPr bwMode="auto">
          <a:xfrm>
            <a:off x="650240" y="878840"/>
            <a:ext cx="108908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08712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石子合并问题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算法实现</a:t>
            </a:r>
            <a:r>
              <a:rPr 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nlo" panose="020B0609030804020204" charset="0"/>
                <a:ea typeface="Noto Sans S Chinese Light" panose="020B0300000000000000" pitchFamily="34" charset="-122"/>
                <a:cs typeface="Menlo" panose="020B0609030804020204" charset="0"/>
                <a:sym typeface="Noto Sans S Chinese Light" panose="020B0300000000000000" pitchFamily="34" charset="-122"/>
              </a:rPr>
              <a:t>：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enlo" panose="020B0609030804020204" charset="0"/>
              <a:ea typeface="Noto Sans S Chinese Light" panose="020B0300000000000000" pitchFamily="34" charset="-122"/>
              <a:cs typeface="Menlo" panose="020B0609030804020204" charset="0"/>
              <a:sym typeface="Noto Sans S Chinese Light" panose="020B0300000000000000" pitchFamily="34" charset="-122"/>
            </a:endParaRPr>
          </a:p>
        </p:txBody>
      </p:sp>
      <p:pic>
        <p:nvPicPr>
          <p:cNvPr id="3" name="图片 2" descr="截屏2020-04-19下午10.05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380" y="383540"/>
            <a:ext cx="6085840" cy="5874385"/>
          </a:xfrm>
          <a:prstGeom prst="rect">
            <a:avLst/>
          </a:prstGeom>
        </p:spPr>
      </p:pic>
    </p:spTree>
  </p:cSld>
  <p:clrMapOvr>
    <a:masterClrMapping/>
  </p:clrMapOvr>
  <p:transition spd="med" advTm="2000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81740" y="1114443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81740" y="5516091"/>
            <a:ext cx="1130127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235450" y="2689225"/>
            <a:ext cx="3593465" cy="95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4" tIns="45702" rIns="91404" bIns="45702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sym typeface="Noto Sans S Chinese Light" panose="020B0300000000000000" pitchFamily="34" charset="-122"/>
              </a:rPr>
              <a:t>谢谢聆听</a:t>
            </a:r>
            <a:endParaRPr lang="zh-CN" altLang="en-US" sz="6600" dirty="0">
              <a:solidFill>
                <a:schemeClr val="tx1">
                  <a:lumMod val="75000"/>
                  <a:lumOff val="25000"/>
                </a:schemeClr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 flipV="1">
            <a:off x="11683014" y="955036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 flipV="1">
            <a:off x="0" y="5353534"/>
            <a:ext cx="342650" cy="3251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 Chinese Light" panose="020B0300000000000000" pitchFamily="34" charset="-122"/>
              <a:ea typeface="Noto Sans S Chinese Light" panose="020B0300000000000000" pitchFamily="34" charset="-122"/>
              <a:sym typeface="Noto Sans S Chinese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498E"/>
      </a:accent1>
      <a:accent2>
        <a:srgbClr val="A5A5A5"/>
      </a:accent2>
      <a:accent3>
        <a:srgbClr val="21498E"/>
      </a:accent3>
      <a:accent4>
        <a:srgbClr val="A5A5A5"/>
      </a:accent4>
      <a:accent5>
        <a:srgbClr val="21498E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2555</Words>
  <Application>WPS 演示</Application>
  <PresentationFormat>宽屏</PresentationFormat>
  <Paragraphs>348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方正书宋_GBK</vt:lpstr>
      <vt:lpstr>Wingdings</vt:lpstr>
      <vt:lpstr>Noto Sans S Chinese Light</vt:lpstr>
      <vt:lpstr>冬青黑体简体中文</vt:lpstr>
      <vt:lpstr>微软雅黑</vt:lpstr>
      <vt:lpstr>汉仪旗黑KW</vt:lpstr>
      <vt:lpstr>仿宋_GB2312</vt:lpstr>
      <vt:lpstr>Calibri</vt:lpstr>
      <vt:lpstr>Helvetica Neue</vt:lpstr>
      <vt:lpstr>MS PGothic</vt:lpstr>
      <vt:lpstr>Menlo</vt:lpstr>
      <vt:lpstr>Courier New</vt:lpstr>
      <vt:lpstr>Cambria Math</vt:lpstr>
      <vt:lpstr>等线</vt:lpstr>
      <vt:lpstr>汉仪中等线KW</vt:lpstr>
      <vt:lpstr>宋体</vt:lpstr>
      <vt:lpstr>Arial Unicode MS</vt:lpstr>
      <vt:lpstr>汉仪书宋二KW</vt:lpstr>
      <vt:lpstr>汉仪仿宋KW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美式简约</dc:title>
  <dc:creator>春晓 孙</dc:creator>
  <cp:lastModifiedBy>frankyoung</cp:lastModifiedBy>
  <cp:revision>16</cp:revision>
  <dcterms:created xsi:type="dcterms:W3CDTF">2020-04-21T07:37:44Z</dcterms:created>
  <dcterms:modified xsi:type="dcterms:W3CDTF">2020-04-21T07:37:44Z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2052-2.1.2.3417</vt:lpwstr>
  </property>
</Properties>
</file>